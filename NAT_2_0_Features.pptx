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1" r:id="rId2"/>
    <p:sldId id="256" r:id="rId3"/>
    <p:sldId id="257" r:id="rId4"/>
    <p:sldId id="258" r:id="rId5"/>
    <p:sldId id="259" r:id="rId6"/>
    <p:sldId id="272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61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088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21023" y="3585839"/>
            <a:ext cx="6769825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/>
            <a:endParaRPr lang="en-US" sz="2000">
              <a:solidFill>
                <a:prstClr val="white"/>
              </a:solidFill>
              <a:latin typeface="Aptos Light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6DC74-01EC-D3DC-3B2B-EFBE76447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504" y="439908"/>
            <a:ext cx="1705596" cy="6808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4E1ACF-351B-C646-E969-3CA45F5242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16" r="6016"/>
          <a:stretch>
            <a:fillRect/>
          </a:stretch>
        </p:blipFill>
        <p:spPr>
          <a:xfrm>
            <a:off x="0" y="2293520"/>
            <a:ext cx="12192000" cy="4564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C84338-4C43-4402-A91B-071ACF8374AE}"/>
              </a:ext>
            </a:extLst>
          </p:cNvPr>
          <p:cNvSpPr txBox="1"/>
          <p:nvPr/>
        </p:nvSpPr>
        <p:spPr>
          <a:xfrm>
            <a:off x="300037" y="1705001"/>
            <a:ext cx="5795963" cy="1052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2400" b="1" dirty="0">
                <a:solidFill>
                  <a:srgbClr val="00ADFB"/>
                </a:solidFill>
                <a:latin typeface="Aptos" panose="020B0004020202020204" pitchFamily="34" charset="0"/>
              </a:rPr>
              <a:t>Accelerating Amerisure</a:t>
            </a:r>
          </a:p>
          <a:p>
            <a:pPr algn="ctr">
              <a:lnSpc>
                <a:spcPts val="3900"/>
              </a:lnSpc>
            </a:pPr>
            <a:r>
              <a:rPr lang="en-US" sz="2400" b="1" dirty="0">
                <a:solidFill>
                  <a:srgbClr val="00ADFB"/>
                </a:solidFill>
                <a:latin typeface="Aptos" panose="020B0004020202020204" pitchFamily="34" charset="0"/>
              </a:rPr>
              <a:t>Release Cycles</a:t>
            </a:r>
          </a:p>
        </p:txBody>
      </p:sp>
      <p:pic>
        <p:nvPicPr>
          <p:cNvPr id="7" name="Picture 2" descr="Amerisure">
            <a:extLst>
              <a:ext uri="{FF2B5EF4-FFF2-40B4-BE49-F238E27FC236}">
                <a16:creationId xmlns:a16="http://schemas.microsoft.com/office/drawing/2014/main" id="{A4EDA58E-6296-1435-2B1E-39867184A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3948470"/>
            <a:ext cx="28384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Testing Platform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203649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DevX QE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· Self-Healing · Enterprise-Grade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2651760" cy="2286000"/>
          </a:xfrm>
          <a:prstGeom prst="roundRect">
            <a:avLst>
              <a:gd name="adj" fmla="val 2000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26517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794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pipeline: Orchestrator → Analyst → Strategist → Generator. Each agent specializes in one QA discipline.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2743200"/>
            <a:ext cx="2651760" cy="2286000"/>
          </a:xfrm>
          <a:prstGeom prst="roundRect">
            <a:avLst>
              <a:gd name="adj" fmla="val 2000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63240" y="2743200"/>
            <a:ext cx="26517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5468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5468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Discover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794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Auto-discovers locators,  partially repairs broken selectors, adapts to DOM changes without manual intervention.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2743200"/>
            <a:ext cx="2651760" cy="2286000"/>
          </a:xfrm>
          <a:prstGeom prst="roundRect">
            <a:avLst>
              <a:gd name="adj" fmla="val 2000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852160" y="2743200"/>
            <a:ext cx="26517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4360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9320" y="3794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story to meaningful </a:t>
            </a:r>
            <a:r>
              <a:rPr lang="en-US" sz="110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scripts </a:t>
            </a: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30 seconds.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41080" y="2743200"/>
            <a:ext cx="2651760" cy="2286000"/>
          </a:xfrm>
          <a:prstGeom prst="roundRect">
            <a:avLst>
              <a:gd name="adj" fmla="val 2000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641080" y="2743200"/>
            <a:ext cx="26517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73252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732520" y="3383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0" y="3794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RBAC, audit trails, CI/CD hooks, ZIP export, Azure DevOps &amp; Jira integration.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387743"/>
            <a:ext cx="12188952" cy="45720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-105156" y="6392968"/>
            <a:ext cx="12188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DevX QE is an enterprise QA automation platform that uses AI to generate tests, execute them across frameworks, and deliver production-quality results</a:t>
            </a:r>
            <a:endParaRPr lang="en-US" sz="11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Test Case Generation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Execution Model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029200" cy="7772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4864" cy="77724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CONFIGURE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 target URL, crawl depth, auth config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5029200" cy="7772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4864" cy="77724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CRAWL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243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Discover pages, forms, inputs, buttons, links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5029200" cy="7772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54864" cy="77724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ANALYSE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maps page structure, counts forms/buttons/inputs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5029200" cy="7772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54864" cy="77724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050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GENERATE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616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Creates test cases by category and priority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846320"/>
            <a:ext cx="5029200" cy="777240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4846320"/>
            <a:ext cx="54864" cy="77724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49194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EXECUTE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2303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Runs Playwright scripts, captures results &amp; screenshots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Categories Generated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35040" y="137160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35040" y="1371600"/>
            <a:ext cx="2560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72200" y="14813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Smoke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validation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69680" y="137160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869680" y="1371600"/>
            <a:ext cx="2560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006840" y="14813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Functional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068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user flows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33172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035040" y="2331720"/>
            <a:ext cx="2560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172200" y="2441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Negative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inputs, error handling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869680" y="233172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869680" y="2331720"/>
            <a:ext cx="2560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006840" y="2441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Edge Cases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0684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conditions, limits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35040" y="329184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35040" y="3291840"/>
            <a:ext cx="2560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72200" y="3401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7220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injection, XSS checks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869680" y="329184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869680" y="3291840"/>
            <a:ext cx="2560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006840" y="3401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 Accessibility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00684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35040" y="43434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Levels: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035040" y="4663440"/>
            <a:ext cx="123444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035040" y="4663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CRITICAL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06640" y="4663440"/>
            <a:ext cx="1234440" cy="45720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406640" y="4663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HIGH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778240" y="4663440"/>
            <a:ext cx="1234440" cy="457200"/>
          </a:xfrm>
          <a:prstGeom prst="rect">
            <a:avLst/>
          </a:prstGeom>
          <a:solidFill>
            <a:srgbClr val="CCAA00"/>
          </a:solidFill>
          <a:ln w="12700">
            <a:solidFill>
              <a:srgbClr val="CCA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778240" y="4663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MEDIUM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149840" y="4663440"/>
            <a:ext cx="1234440" cy="457200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0149840" y="46634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LOW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5760720"/>
            <a:ext cx="3474720" cy="640080"/>
          </a:xfrm>
          <a:prstGeom prst="roundRect">
            <a:avLst>
              <a:gd name="adj" fmla="val 7143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365760" y="5760720"/>
            <a:ext cx="34747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57200" y="5806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Categories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023360" y="5760720"/>
            <a:ext cx="3474720" cy="640080"/>
          </a:xfrm>
          <a:prstGeom prst="roundRect">
            <a:avLst>
              <a:gd name="adj" fmla="val 7143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023360" y="5760720"/>
            <a:ext cx="34747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114800" y="5806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Priority Levels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680960" y="5760720"/>
            <a:ext cx="3474720" cy="640080"/>
          </a:xfrm>
          <a:prstGeom prst="roundRect">
            <a:avLst>
              <a:gd name="adj" fmla="val 7143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7680960" y="5760720"/>
            <a:ext cx="34747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772400" y="5806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Output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from User Stories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560320" cy="502920"/>
          </a:xfrm>
          <a:prstGeom prst="rect">
            <a:avLst/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Azure DevOps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868680"/>
            <a:ext cx="2560320" cy="502920"/>
          </a:xfrm>
          <a:prstGeom prst="rect">
            <a:avLst/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0" y="868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Jira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868680"/>
            <a:ext cx="2560320" cy="502920"/>
          </a:xfrm>
          <a:prstGeom prst="rect">
            <a:avLst/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60720" y="868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Manual Entry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17373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Sprint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ADO/Jira sprint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1645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194560" y="1645920"/>
            <a:ext cx="17373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24028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4028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acceptance criteria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1645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0" y="1645920"/>
            <a:ext cx="17373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6052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6052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6052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test scenarios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1645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35040" y="1645920"/>
            <a:ext cx="17373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8076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8076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Categorised by type &amp; priority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55280" y="1645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955280" y="1645920"/>
            <a:ext cx="17373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00100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0100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Scripts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0100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+ step defs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875520" y="1645920"/>
            <a:ext cx="173736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875520" y="1645920"/>
            <a:ext cx="17373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921240" y="1719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92124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Export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2124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TS-Playwright / Java / TestComplete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1680" y="2011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931920" y="2011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52160" y="2011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72400" y="2011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92640" y="2011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5760" y="3017520"/>
            <a:ext cx="11430000" cy="1371600"/>
          </a:xfrm>
          <a:prstGeom prst="roundRect">
            <a:avLst>
              <a:gd name="adj" fmla="val 3333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65760" y="3017520"/>
            <a:ext cx="1143000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Test Case Structure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3429000"/>
            <a:ext cx="1737360" cy="365760"/>
          </a:xfrm>
          <a:prstGeom prst="rect">
            <a:avLst/>
          </a:prstGeom>
          <a:solidFill>
            <a:srgbClr val="050E1A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48640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Title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423160" y="3429000"/>
            <a:ext cx="1737360" cy="365760"/>
          </a:xfrm>
          <a:prstGeom prst="rect">
            <a:avLst/>
          </a:prstGeom>
          <a:solidFill>
            <a:srgbClr val="050E1A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423160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97680" y="3429000"/>
            <a:ext cx="1737360" cy="365760"/>
          </a:xfrm>
          <a:prstGeom prst="rect">
            <a:avLst/>
          </a:prstGeom>
          <a:solidFill>
            <a:srgbClr val="050E1A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297680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72200" y="3429000"/>
            <a:ext cx="1737360" cy="365760"/>
          </a:xfrm>
          <a:prstGeom prst="rect">
            <a:avLst/>
          </a:prstGeom>
          <a:solidFill>
            <a:srgbClr val="050E1A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172200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046720" y="3429000"/>
            <a:ext cx="1737360" cy="365760"/>
          </a:xfrm>
          <a:prstGeom prst="rect">
            <a:avLst/>
          </a:prstGeom>
          <a:solidFill>
            <a:srgbClr val="050E1A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8046720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921240" y="3429000"/>
            <a:ext cx="1737360" cy="365760"/>
          </a:xfrm>
          <a:prstGeom prst="rect">
            <a:avLst/>
          </a:prstGeom>
          <a:solidFill>
            <a:srgbClr val="050E1A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9921240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572000"/>
            <a:ext cx="11430000" cy="1737360"/>
          </a:xfrm>
          <a:prstGeom prst="roundRect">
            <a:avLst>
              <a:gd name="adj" fmla="val 2632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365760" y="4572000"/>
            <a:ext cx="1143000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48640" y="45803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BDD Export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57200" y="4846320"/>
            <a:ext cx="3474720" cy="1005840"/>
          </a:xfrm>
          <a:prstGeom prst="rect">
            <a:avLst/>
          </a:prstGeom>
          <a:solidFill>
            <a:srgbClr val="0D1F38"/>
          </a:solidFill>
          <a:ln w="381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4864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TypeScript Playwright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5285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 · step-definitions/ · pages/ · cucumber.config.ts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114800" y="4846320"/>
            <a:ext cx="3474720" cy="1005840"/>
          </a:xfrm>
          <a:prstGeom prst="rect">
            <a:avLst/>
          </a:prstGeom>
          <a:solidFill>
            <a:srgbClr val="0D1F38"/>
          </a:solidFill>
          <a:ln w="381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20624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Java Selenium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206240" y="5285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 · step-definitions/ · pages/ · TestRunner.java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772400" y="4846320"/>
            <a:ext cx="3474720" cy="1005840"/>
          </a:xfrm>
          <a:prstGeom prst="rect">
            <a:avLst/>
          </a:prstGeom>
          <a:solidFill>
            <a:srgbClr val="0D1F38"/>
          </a:solidFill>
          <a:ln w="381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86384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TestComplete JS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863840" y="5285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 · step-definitions/ · pages/ · TestSuiteRunner.js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Automation Scripts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65760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Java Selenium (Maven/Gradle)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 @BeforeClass · @Test methods · Page Object Model · TestNG annotations · Explicit waits · Realistic locators (ID/CSS/XPath)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56032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365760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TypeScript Playwright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test.describe blocks · async/await · page.goto + locator() · expect() assertions · Cross-browser aware · Screenshot on failure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20624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365760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TestComplete 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754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Aliases-based object mapping · Log.Message logging · TestedApps.launch · Checkpoint assertions · Proper test function structure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91440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480560" y="914400"/>
            <a:ext cx="169164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26280" y="960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P0→P3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13258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91440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309360" y="914400"/>
            <a:ext cx="169164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55080" y="960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XPath+CSS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13258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Locators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91440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38160" y="914400"/>
            <a:ext cx="169164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83880" y="960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83880" y="13258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66960" y="91440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966960" y="914400"/>
            <a:ext cx="169164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012680" y="9601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12680" y="13258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CI-Ready Export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1828800"/>
            <a:ext cx="7132320" cy="1645920"/>
          </a:xfrm>
          <a:prstGeom prst="roundRect">
            <a:avLst>
              <a:gd name="adj" fmla="val 2778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480560" y="1828800"/>
            <a:ext cx="7132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63440" y="19202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3-Agent Script Generation Pipeline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0" y="2194560"/>
            <a:ext cx="2103120" cy="822960"/>
          </a:xfrm>
          <a:prstGeom prst="rect">
            <a:avLst/>
          </a:prstGeom>
          <a:solidFill>
            <a:srgbClr val="050E1A"/>
          </a:solidFill>
          <a:ln w="381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17720" y="2212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Workflow Analyst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user journeys &amp; navigation flows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2194560"/>
            <a:ext cx="2103120" cy="822960"/>
          </a:xfrm>
          <a:prstGeom prst="rect">
            <a:avLst/>
          </a:prstGeom>
          <a:solidFill>
            <a:srgbClr val="050E1A"/>
          </a:solidFill>
          <a:ln w="381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903720" y="2212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Test Architect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0372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test strategy across 6 categories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44000" y="2194560"/>
            <a:ext cx="2103120" cy="822960"/>
          </a:xfrm>
          <a:prstGeom prst="rect">
            <a:avLst/>
          </a:prstGeom>
          <a:solidFill>
            <a:srgbClr val="050E1A"/>
          </a:solidFill>
          <a:ln w="381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189720" y="22128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Script Forge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8972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complete automation scripts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2468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15400" y="2468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480560" y="3657600"/>
            <a:ext cx="7132320" cy="2560320"/>
          </a:xfrm>
          <a:prstGeom prst="roundRect">
            <a:avLst>
              <a:gd name="adj" fmla="val 178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480560" y="3657600"/>
            <a:ext cx="7132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663440" y="37490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Selenium Output Structure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63440" y="406908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src/test/java/tests/  ← @Test classes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src/test/java/pages/  ← Page Objects (POM)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src/test/resources/testng.xml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  ·  README.md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Catalog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existing framework, configure &amp; launch test generation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Java Selenium — Maven/Gradle POM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TypeScript Playwright — async/await, cross-browser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TestComplete JS — Aliases, Log.Message, TestedApps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Framework-aware prompt engineering per selection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Launch → parameter collection → code generation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blurRad="508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5852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Java Selenium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24160" y="155448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424160" y="1554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265176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blurRad="508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43600" y="2651760"/>
            <a:ext cx="5852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TypeScript Playwright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424160" y="310896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42416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420624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0D1F38"/>
          </a:solidFill>
          <a:ln w="9525">
            <a:solidFill>
              <a:srgbClr val="00BFFF"/>
            </a:solidFill>
            <a:prstDash val="solid"/>
          </a:ln>
          <a:effectLst>
            <a:outerShdw blurRad="50800" dist="254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43600" y="4206240"/>
            <a:ext cx="585216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26480" y="4663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TestComplete JS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424160" y="466344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42416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DESKTOP+WEB</a:t>
            </a:r>
            <a:endParaRPr lang="en-US" sz="900" dirty="0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E835B147-9D2B-AAB9-3ED1-DAA6ABC98A7F}"/>
              </a:ext>
            </a:extLst>
          </p:cNvPr>
          <p:cNvSpPr/>
          <p:nvPr/>
        </p:nvSpPr>
        <p:spPr>
          <a:xfrm>
            <a:off x="365760" y="713232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— Insurance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457200"/>
          </a:xfrm>
          <a:prstGeom prst="rect">
            <a:avLst/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Insurance Sub-Domains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868680"/>
            <a:ext cx="2743200" cy="457200"/>
          </a:xfrm>
          <a:prstGeom prst="rect">
            <a:avLst/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0" y="868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Configurable Fields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868680"/>
            <a:ext cx="2743200" cy="457200"/>
          </a:xfrm>
          <a:prstGeom prst="rect">
            <a:avLst/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0" y="868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52560" y="868680"/>
            <a:ext cx="2743200" cy="457200"/>
          </a:xfrm>
          <a:prstGeom prst="rect">
            <a:avLst/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0" y="868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Excel Export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3566160" cy="1417320"/>
          </a:xfrm>
          <a:prstGeom prst="roundRect">
            <a:avLst>
              <a:gd name="adj" fmla="val 322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35661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16642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Personal Auto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0574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· Vehicle Year/Make/Model · Driver DOB · MVR Score · Annual Mileage · Deductibles · Prior Carrier · Multi-Policy Discount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0" y="1554480"/>
            <a:ext cx="3566160" cy="1417320"/>
          </a:xfrm>
          <a:prstGeom prst="roundRect">
            <a:avLst>
              <a:gd name="adj" fmla="val 322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0" y="1554480"/>
            <a:ext cx="35661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51960" y="16642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Homeowner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20574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Form · Year Built · Sq Footage · Roof Type/Age · Construction Type · Coverage A/B/C/D · AOP Deductible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5280" y="1554480"/>
            <a:ext cx="3566160" cy="1417320"/>
          </a:xfrm>
          <a:prstGeom prst="roundRect">
            <a:avLst>
              <a:gd name="adj" fmla="val 322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955280" y="1554480"/>
            <a:ext cx="35661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092440" y="16642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Commercial Property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20574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 factors · Protection Class · SIC Code · Building/BPP Limits · Business Income · Equipment Breakdown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3566160" cy="1417320"/>
          </a:xfrm>
          <a:prstGeom prst="roundRect">
            <a:avLst>
              <a:gd name="adj" fmla="val 322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35661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3264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Claims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3657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Number · Date of Loss · Adjuster · Reserve/Paid · Fraud Indicator · Catastrophe Code · Cause of Loss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0" y="3154680"/>
            <a:ext cx="3566160" cy="1417320"/>
          </a:xfrm>
          <a:prstGeom prst="roundRect">
            <a:avLst>
              <a:gd name="adj" fmla="val 322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114800" y="3154680"/>
            <a:ext cx="35661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251960" y="3264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Life Insurance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51960" y="3657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Amount · Premium Frequency · Cash/Surrender Value · Underwriting Class · Smoker Status · Beneficiary · Riders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955280" y="3154680"/>
            <a:ext cx="3566160" cy="1417320"/>
          </a:xfrm>
          <a:prstGeom prst="roundRect">
            <a:avLst>
              <a:gd name="adj" fmla="val 322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955280" y="3154680"/>
            <a:ext cx="356616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092440" y="3264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 Insurance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92440" y="3657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Type · Deductible · Copay PCP/Specialist · Network Type · Pharmacy/Dental/Vision · Preauth Required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754880"/>
            <a:ext cx="11612880" cy="1463040"/>
          </a:xfrm>
          <a:prstGeom prst="roundRect">
            <a:avLst>
              <a:gd name="adj" fmla="val 3125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74320" y="4754880"/>
            <a:ext cx="1161288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Field Intelligence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51663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understands domain context — generates realistic Payment_Plan, Vehicle_Usage, Prior_Insurance_Carrier, MVR_Score, and any custom field name you add. No more Data_1 placeholders.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577840"/>
            <a:ext cx="2011680" cy="4114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7200" y="5577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Domain-Aware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26080" y="5577840"/>
            <a:ext cx="2011680" cy="4114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926080" y="5577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5577840"/>
            <a:ext cx="2011680" cy="4114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9200" y="5577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Records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32320" y="5577840"/>
            <a:ext cx="2011680" cy="4114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132320" y="5577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LLM-Validated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Module — AI Quality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84632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846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Orchestrator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API config · validates endpoint structure · configures auth context · dispatches agents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484632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4846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8072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API Analyzer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methods &amp; paths · extracts parameters · analyzes response schema · maps domain context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023360"/>
            <a:ext cx="484632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4023360"/>
            <a:ext cx="4846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41330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Expert Strategist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526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Postman best practices · designs assertion strategies · formulates test scenarios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5349240"/>
            <a:ext cx="4846320" cy="1188720"/>
          </a:xfrm>
          <a:prstGeom prst="roundRect">
            <a:avLst>
              <a:gd name="adj" fmla="val 3846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5349240"/>
            <a:ext cx="4846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54589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Test Generator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58521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test cases: Functional · Negative · Security · Performance · Boundary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914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13716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specification import &amp; parsing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18745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 of all endpoints and response schemas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3774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resolution from servers[] array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28803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&amp; API key authentication injection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3832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collection — no hallucinated values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3886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20-endpoint batch test execution with progress tracking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43891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test execution reports with pass/fail metrics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48920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Schema-compliant realistic test body generation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55778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669280" y="5577840"/>
            <a:ext cx="1417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715000" y="55961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715000" y="5943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23760" y="55778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223760" y="5577840"/>
            <a:ext cx="1417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269480" y="55961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P0-P3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69480" y="5943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Levels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778240" y="55778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778240" y="5577840"/>
            <a:ext cx="1417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823960" y="55961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823960" y="5943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Endpoints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332720" y="55778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0332720" y="5577840"/>
            <a:ext cx="14173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0378440" y="559612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378440" y="5943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→ Playwright Migration Tool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30000" cy="594360"/>
          </a:xfrm>
          <a:prstGeom prst="roundRect">
            <a:avLst>
              <a:gd name="adj" fmla="val 7692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43000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migration from Java Selenium (C#/Java/Python) to TypeScript Playwright — preserving test intent while modernising the entire test suite.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30000" cy="288036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Selenium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Equivalent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By.Id("id")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locator('#id')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By.CssSelector(css)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locator('css')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By.XPath(xpath)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locator('xpath=...')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By.LinkText(text)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getByRole('link', {name})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driver.Navigate().GoToUrl()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page.goto(url)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element.SendKeys(text)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locator.fill(text)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element.Click()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locator.click()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Thread.Sleep(ms)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page.waitForTimeout(ms)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365760" y="461772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65760" y="4617720"/>
            <a:ext cx="21031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974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patterns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5285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51760" y="461772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651760" y="4617720"/>
            <a:ext cx="21031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743200" y="4663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43200" y="4974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methods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0" y="5285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37760" y="461772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937760" y="4617720"/>
            <a:ext cx="21031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029200" y="4663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9200" y="4974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conditions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0" y="5285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223760" y="461772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223760" y="4617720"/>
            <a:ext cx="21031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315200" y="4663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15200" y="4974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commands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5285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509760" y="461772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0D1F38"/>
          </a:solidFill>
          <a:ln w="63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9509760" y="4617720"/>
            <a:ext cx="2103120" cy="54864"/>
          </a:xfrm>
          <a:prstGeom prst="rect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9601200" y="46634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601200" y="4974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601200" y="5285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65760" y="58064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Step Definitions · Page Objects · Feature Files · Hooks/Setup · Test Configuration files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1176</Words>
  <Application>Microsoft Office PowerPoint</Application>
  <PresentationFormat>Widescreen</PresentationFormat>
  <Paragraphs>238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Light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Chandra Mouli (BLR TT)</cp:lastModifiedBy>
  <cp:revision>2</cp:revision>
  <dcterms:created xsi:type="dcterms:W3CDTF">2026-03-30T10:23:03Z</dcterms:created>
  <dcterms:modified xsi:type="dcterms:W3CDTF">2026-03-30T12:50:19Z</dcterms:modified>
</cp:coreProperties>
</file>